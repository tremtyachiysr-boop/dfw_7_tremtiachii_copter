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3"/>
  </p:sldMasterIdLst>
  <p:notesMasterIdLst>
    <p:notesMasterId r:id="rId4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</p:sldIdLst>
  <p:sldSz cy="6858000" cx="12191675"/>
  <p:notesSz cx="6858000" cy="12191675"/>
  <p:embeddedFontLst>
    <p:embeddedFont>
      <p:font typeface="Nunito Sans Light"/>
      <p:regular r:id="rId25"/>
      <p:bold r:id="rId26"/>
      <p:italic r:id="rId27"/>
      <p:boldItalic r:id="rId28"/>
    </p:embeddedFont>
    <p:embeddedFont>
      <p:font typeface="Nunito Sans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font" Target="fonts/NunitoSansLight-regular.fntdata"/><Relationship Id="rId26" Type="http://schemas.openxmlformats.org/officeDocument/2006/relationships/font" Target="fonts/NunitoSansLight-bold.fntdata"/><Relationship Id="rId27" Type="http://schemas.openxmlformats.org/officeDocument/2006/relationships/font" Target="fonts/NunitoSansLight-italic.fntdata"/><Relationship Id="rId28" Type="http://schemas.openxmlformats.org/officeDocument/2006/relationships/font" Target="fonts/NunitoSansLight-boldItalic.fntdata"/><Relationship Id="rId29" Type="http://schemas.openxmlformats.org/officeDocument/2006/relationships/font" Target="fonts/NunitoSans-regular.fntdata"/><Relationship Id="rId30" Type="http://schemas.openxmlformats.org/officeDocument/2006/relationships/font" Target="fonts/NunitoSans-bold.fntdata"/><Relationship Id="rId31" Type="http://schemas.openxmlformats.org/officeDocument/2006/relationships/font" Target="fonts/NunitoSans-italic.fntdata"/><Relationship Id="rId32" Type="http://schemas.openxmlformats.org/officeDocument/2006/relationships/font" Target="fonts/NunitoSans-boldItalic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69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6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7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498079" y="685800"/>
            <a:ext cx="4114800" cy="5486400"/>
          </a:xfrm>
          <a:prstGeom prst="roundRect">
            <a:avLst>
              <a:gd name="adj" fmla="val 7777"/>
            </a:avLst>
          </a:prstGeom>
          <a:solidFill>
            <a:srgbClr val="F4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ron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818119" y="822960"/>
            <a:ext cx="3474720" cy="5212080"/>
          </a:xfrm>
          <a:prstGeom prst="roundRect">
            <a:avLst>
              <a:gd name="adj" fmla="val 7894"/>
            </a:avLst>
          </a:prstGeom>
          <a:effectLst>
            <a:outerShdw blurRad="228600" dist="63500" dir="5400000" algn="t" rotWithShape="0">
              <a:srgbClr val="1E293B">
                <a:alpha val="16000"/>
              </a:srgbClr>
            </a:outerShdw>
          </a:effectLst>
        </p:spPr>
      </p:pic>
      <p:sp>
        <p:nvSpPr>
          <p:cNvPr id="5" name="Rounded Rectangle 4"/>
          <p:cNvSpPr/>
          <p:nvPr/>
        </p:nvSpPr>
        <p:spPr>
          <a:xfrm>
            <a:off x="777240" y="1143000"/>
            <a:ext cx="3931920" cy="384048"/>
          </a:xfrm>
          <a:prstGeom prst="roundRect">
            <a:avLst>
              <a:gd name="adj" fmla="val 50000"/>
            </a:avLst>
          </a:prstGeom>
          <a:solidFill>
            <a:srgbClr val="1F2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2161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9DB4E8"/>
                </a:solidFill>
                <a:latin typeface="Nunito Sans"/>
              </a:rPr>
              <a:t>DRONES FIRMWARE · ФІНАЛЬНИЙ ПРОЄКТ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65836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70"/>
              </a:spcAft>
            </a:pPr>
            <a:r>
              <a:rPr sz="3400" b="1">
                <a:solidFill>
                  <a:srgbClr val="FFFFFF"/>
                </a:solidFill>
                <a:latin typeface="Nunito Sans"/>
              </a:rPr>
              <a:t>Маршрутна місія ArduCopter:</a:t>
            </a:r>
          </a:p>
          <a:p>
            <a:pPr algn="l">
              <a:spcAft>
                <a:spcPts val="170"/>
              </a:spcAft>
            </a:pPr>
            <a:r>
              <a:rPr sz="3400" b="1">
                <a:solidFill>
                  <a:srgbClr val="7FA6F5"/>
                </a:solidFill>
                <a:latin typeface="Nunito Sans"/>
              </a:rPr>
              <a:t>PID і фільтр </a:t>
            </a:r>
            <a:r>
              <a:rPr sz="3400" b="1">
                <a:solidFill>
                  <a:srgbClr val="FFFFFF"/>
                </a:solidFill>
                <a:latin typeface="Nunito Sans"/>
              </a:rPr>
              <a:t>за логами SITL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20440"/>
            <a:ext cx="6583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C9D3E3"/>
                </a:solidFill>
                <a:latin typeface="Nunito Sans"/>
              </a:rPr>
              <a:t>Quad X · ArduPilot Copter 4.7.2 · Mission Planner · ArduPilot Web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3484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Nunito Sans"/>
              </a:rPr>
              <a:t>Тремтячий Сергій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920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20"/>
              </a:spcAft>
            </a:pPr>
            <a:r>
              <a:rPr sz="1600" b="0">
                <a:solidFill>
                  <a:srgbClr val="C9D3E3"/>
                </a:solidFill>
                <a:latin typeface="Nunito Sans"/>
              </a:rPr>
              <a:t>Група DFW-7 · захист 28.10.2026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23560"/>
            <a:ext cx="6583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10"/>
              </a:spcAft>
            </a:pPr>
            <a:r>
              <a:rPr sz="1100" b="0">
                <a:solidFill>
                  <a:srgbClr val="8A97AE"/>
                </a:solidFill>
                <a:latin typeface="Nunito Sans"/>
              </a:rPr>
              <a:t>Звіт і лог (.bin):</a:t>
            </a:r>
          </a:p>
          <a:p>
            <a:pPr algn="l">
              <a:spcAft>
                <a:spcPts val="110"/>
              </a:spcAft>
            </a:pPr>
            <a:r>
              <a:rPr sz="1100" b="0">
                <a:solidFill>
                  <a:srgbClr val="8A97AE"/>
                </a:solidFill>
                <a:latin typeface="Nunito Sans"/>
              </a:rPr>
              <a:t>github.com/tremtyachiysr-boop/DFW_7_Tremtiachii_Copter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7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3B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60"/>
              </a:spcAft>
            </a:pPr>
            <a:r>
              <a:rPr sz="1800" b="1">
                <a:solidFill>
                  <a:srgbClr val="FFFFFF"/>
                </a:solidFill>
                <a:latin typeface="Nunito San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2976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B7280"/>
                </a:solidFill>
                <a:latin typeface="Nunito Sans"/>
              </a:rPr>
              <a:t>ЗАДАЧА МІСІЇ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676656"/>
            <a:ext cx="8778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11827"/>
                </a:solidFill>
                <a:latin typeface="Nunito Sans"/>
              </a:rPr>
              <a:t>Дрон долетів, але розгойдувався</a:t>
            </a:r>
          </a:p>
        </p:txBody>
      </p:sp>
      <p:sp>
        <p:nvSpPr>
          <p:cNvPr id="7" name="Oval 6"/>
          <p:cNvSpPr/>
          <p:nvPr/>
        </p:nvSpPr>
        <p:spPr>
          <a:xfrm>
            <a:off x="9989819" y="594360"/>
            <a:ext cx="146304" cy="146304"/>
          </a:xfrm>
          <a:prstGeom prst="ellipse">
            <a:avLst/>
          </a:prstGeom>
          <a:solidFill>
            <a:srgbClr val="3B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8700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61319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3564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09959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8428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5860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1600200"/>
            <a:ext cx="11064240" cy="1691640"/>
          </a:xfrm>
          <a:prstGeom prst="roundRect">
            <a:avLst>
              <a:gd name="adj" fmla="val 13513"/>
            </a:avLst>
          </a:prstGeom>
          <a:solidFill>
            <a:srgbClr val="0E1421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1810512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Nunito Sans"/>
              </a:rPr>
              <a:t>«Місію виконано» — але в лозі крен </a:t>
            </a:r>
            <a:r>
              <a:rPr sz="2400" b="1">
                <a:solidFill>
                  <a:srgbClr val="FF8A8E"/>
                </a:solidFill>
                <a:latin typeface="Nunito Sans"/>
              </a:rPr>
              <a:t>до 178 °/с</a:t>
            </a:r>
            <a:r>
              <a:rPr sz="2400" b="0">
                <a:solidFill>
                  <a:srgbClr val="FFFFFF"/>
                </a:solidFill>
                <a:latin typeface="Nunito Sans"/>
              </a:rPr>
              <a:t> при команді до </a:t>
            </a:r>
            <a:r>
              <a:rPr sz="2400" b="1">
                <a:solidFill>
                  <a:srgbClr val="8FE3B5"/>
                </a:solidFill>
                <a:latin typeface="Nunito Sans"/>
              </a:rPr>
              <a:t>68 °/с</a:t>
            </a:r>
            <a:r>
              <a:rPr sz="2400" b="0">
                <a:solidFill>
                  <a:srgbClr val="FFFFFF"/>
                </a:solidFill>
                <a:latin typeface="Nunito Sans"/>
              </a:rPr>
              <a:t>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51460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40"/>
              </a:spcAft>
            </a:pPr>
            <a:r>
              <a:rPr sz="1700" b="0">
                <a:solidFill>
                  <a:srgbClr val="C9D3E3"/>
                </a:solidFill>
                <a:latin typeface="Nunito Sans"/>
              </a:rPr>
              <a:t>Квадрокоптер має сам облетіти ділянку з 5 точок і повернутися. Сів нормально — проблему видно тільки в даних.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74720"/>
            <a:ext cx="2651760" cy="3063240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59" y="3794760"/>
            <a:ext cx="146304" cy="146304"/>
          </a:xfrm>
          <a:prstGeom prst="ellipse">
            <a:avLst/>
          </a:prstGeom>
          <a:solidFill>
            <a:srgbClr val="3B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3712464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60"/>
              </a:spcAft>
            </a:pPr>
            <a:r>
              <a:rPr sz="1800" b="1">
                <a:solidFill>
                  <a:srgbClr val="6B7280"/>
                </a:solidFill>
                <a:latin typeface="Nunito Sans"/>
              </a:rPr>
              <a:t>Контекст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" y="4187952"/>
            <a:ext cx="2103120" cy="2167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11827"/>
                </a:solidFill>
                <a:latin typeface="Nunito Sans"/>
              </a:rPr>
              <a:t>Quad X, ArduPilot Copter 4.7.2 у стандартному SITL, маршрутна місія огляду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55848" y="3474720"/>
            <a:ext cx="2651760" cy="3063240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630168" y="3794760"/>
            <a:ext cx="146304" cy="146304"/>
          </a:xfrm>
          <a:prstGeom prst="ellipse">
            <a:avLst/>
          </a:prstGeom>
          <a:solidFill>
            <a:srgbClr val="16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3712464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60"/>
              </a:spcAft>
            </a:pPr>
            <a:r>
              <a:rPr sz="1800" b="1">
                <a:solidFill>
                  <a:srgbClr val="6B7280"/>
                </a:solidFill>
                <a:latin typeface="Nunito Sans"/>
              </a:rPr>
              <a:t>Задача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30168" y="4187952"/>
            <a:ext cx="2103120" cy="2167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11827"/>
                </a:solidFill>
                <a:latin typeface="Nunito Sans"/>
              </a:rPr>
              <a:t>5+ точок на різних висотах, Geofence, RTL, захист при відмовах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6" y="3474720"/>
            <a:ext cx="2651760" cy="3063240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37376" y="3794760"/>
            <a:ext cx="146304" cy="146304"/>
          </a:xfrm>
          <a:prstGeom prst="ellipse">
            <a:avLst/>
          </a:prstGeom>
          <a:solidFill>
            <a:srgbClr val="E0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8" y="3712464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60"/>
              </a:spcAft>
            </a:pPr>
            <a:r>
              <a:rPr sz="1800" b="1">
                <a:solidFill>
                  <a:srgbClr val="6B7280"/>
                </a:solidFill>
                <a:latin typeface="Nunito Sans"/>
              </a:rPr>
              <a:t>Чому важливо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7376" y="4187952"/>
            <a:ext cx="2103120" cy="2167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11827"/>
                </a:solidFill>
                <a:latin typeface="Nunito Sans"/>
              </a:rPr>
              <a:t>Розгойдування = нестабільна місія і ризик аварії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70264" y="3474720"/>
            <a:ext cx="2651760" cy="3063240"/>
          </a:xfrm>
          <a:prstGeom prst="roundRect">
            <a:avLst>
              <a:gd name="adj" fmla="val 4137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244584" y="3794760"/>
            <a:ext cx="146304" cy="146304"/>
          </a:xfrm>
          <a:prstGeom prst="ellipse">
            <a:avLst/>
          </a:prstGeom>
          <a:solidFill>
            <a:srgbClr val="D99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00616" y="3712464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60"/>
              </a:spcAft>
            </a:pPr>
            <a:r>
              <a:rPr sz="1800" b="1">
                <a:solidFill>
                  <a:srgbClr val="6B7280"/>
                </a:solidFill>
                <a:latin typeface="Nunito Sans"/>
              </a:rPr>
              <a:t>Обмеження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4187952"/>
            <a:ext cx="2103120" cy="21671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111827"/>
                </a:solidFill>
                <a:latin typeface="Nunito Sans"/>
              </a:rPr>
              <a:t>Усе в SITL. Комплектуючі F450 — план для реального дрона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7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3B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60"/>
              </a:spcAft>
            </a:pPr>
            <a:r>
              <a:rPr sz="1800" b="1">
                <a:solidFill>
                  <a:srgbClr val="FFFFFF"/>
                </a:solidFill>
                <a:latin typeface="Nunito Sans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2976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B7280"/>
                </a:solidFill>
                <a:latin typeface="Nunito Sans"/>
              </a:rPr>
              <a:t>СТЕК РІШЕНЬ · КОМПЛЕКТУЮЧІ — ПЛАН ДЛЯ РЕАЛЬНОГО ДРОНА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676656"/>
            <a:ext cx="8778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11827"/>
                </a:solidFill>
                <a:latin typeface="Nunito Sans"/>
              </a:rPr>
              <a:t>ArduPilot + компоненти під задачу</a:t>
            </a:r>
          </a:p>
        </p:txBody>
      </p:sp>
      <p:sp>
        <p:nvSpPr>
          <p:cNvPr id="7" name="Oval 6"/>
          <p:cNvSpPr/>
          <p:nvPr/>
        </p:nvSpPr>
        <p:spPr>
          <a:xfrm>
            <a:off x="1001268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64140" y="594360"/>
            <a:ext cx="146304" cy="146304"/>
          </a:xfrm>
          <a:prstGeom prst="ellipse">
            <a:avLst/>
          </a:prstGeom>
          <a:solidFill>
            <a:srgbClr val="3B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61319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3564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09959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8428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5860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1600200"/>
            <a:ext cx="11064240" cy="4983480"/>
          </a:xfrm>
          <a:prstGeom prst="roundRect">
            <a:avLst>
              <a:gd name="adj" fmla="val 2201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1938528"/>
            <a:ext cx="182880" cy="182880"/>
          </a:xfrm>
          <a:prstGeom prst="ellipse">
            <a:avLst/>
          </a:prstGeom>
          <a:solidFill>
            <a:srgbClr val="3B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4440" y="1874519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B7280"/>
                </a:solidFill>
                <a:latin typeface="Nunito Sans"/>
              </a:rPr>
              <a:t>Прошивка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1856231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11827"/>
                </a:solidFill>
                <a:latin typeface="Nunito Sans"/>
              </a:rPr>
              <a:t>ArduPilot Copter 4.7.2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74519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Nunito Sans"/>
              </a:rPr>
              <a:t>повний SITL, EKF3, детальні логи; PX4 та INAV розглядав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22960" y="2368296"/>
            <a:ext cx="10515600" cy="0"/>
          </a:xfrm>
          <a:prstGeom prst="line">
            <a:avLst/>
          </a:prstGeom>
          <a:ln w="12700">
            <a:solidFill>
              <a:srgbClr val="EEF0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868680" y="2606039"/>
            <a:ext cx="182880" cy="18288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2542032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B7280"/>
                </a:solidFill>
                <a:latin typeface="Nunito Sans"/>
              </a:rPr>
              <a:t>FC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2523744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11827"/>
                </a:solidFill>
                <a:latin typeface="Nunito Sans"/>
              </a:rPr>
              <a:t>SpeedyBee F405 V4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54203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Nunito Sans"/>
              </a:rPr>
              <a:t>STM32F405 · IMU ICM42688 · 6 UART · SD-журнал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22960" y="3035808"/>
            <a:ext cx="10515600" cy="0"/>
          </a:xfrm>
          <a:prstGeom prst="line">
            <a:avLst/>
          </a:prstGeom>
          <a:ln w="12700">
            <a:solidFill>
              <a:srgbClr val="EEF0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68680" y="3273552"/>
            <a:ext cx="182880" cy="182880"/>
          </a:xfrm>
          <a:prstGeom prst="ellipse">
            <a:avLst/>
          </a:prstGeom>
          <a:solidFill>
            <a:srgbClr val="E0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34440" y="3209544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B7280"/>
                </a:solidFill>
                <a:latin typeface="Nunito Sans"/>
              </a:rPr>
              <a:t>ESC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3191256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11827"/>
                </a:solidFill>
                <a:latin typeface="Nunito Sans"/>
              </a:rPr>
              <a:t>BLS 55A 4-in-1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209544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Nunito Sans"/>
              </a:rPr>
              <a:t>BLHeli_S · DShot600 · 55 А на мотор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2960" y="3703320"/>
            <a:ext cx="10515600" cy="0"/>
          </a:xfrm>
          <a:prstGeom prst="line">
            <a:avLst/>
          </a:prstGeom>
          <a:ln w="12700">
            <a:solidFill>
              <a:srgbClr val="EEF0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868680" y="3941063"/>
            <a:ext cx="182880" cy="182880"/>
          </a:xfrm>
          <a:prstGeom prst="ellipse">
            <a:avLst/>
          </a:prstGeom>
          <a:solidFill>
            <a:srgbClr val="D99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34440" y="3877055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B7280"/>
                </a:solidFill>
                <a:latin typeface="Nunito Sans"/>
              </a:rPr>
              <a:t>Мотори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88920" y="3858768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11827"/>
                </a:solidFill>
                <a:latin typeface="Nunito Sans"/>
              </a:rPr>
              <a:t>X2212 980KV + 10″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877055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Nunito Sans"/>
              </a:rPr>
              <a:t>KV під 3S і великі гвинти — ефективне зависання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22960" y="4370832"/>
            <a:ext cx="10515600" cy="0"/>
          </a:xfrm>
          <a:prstGeom prst="line">
            <a:avLst/>
          </a:prstGeom>
          <a:ln w="12700">
            <a:solidFill>
              <a:srgbClr val="EEF0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868680" y="4608576"/>
            <a:ext cx="182880" cy="182880"/>
          </a:xfrm>
          <a:prstGeom prst="ellipse">
            <a:avLst/>
          </a:prstGeom>
          <a:solidFill>
            <a:srgbClr val="16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34440" y="4544568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B7280"/>
                </a:solidFill>
                <a:latin typeface="Nunito Sans"/>
              </a:rPr>
              <a:t>GPS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88920" y="4526280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11827"/>
                </a:solidFill>
                <a:latin typeface="Nunito Sans"/>
              </a:rPr>
              <a:t>BN-880 (M8030)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544568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Nunito Sans"/>
              </a:rPr>
              <a:t>GPS+GLONASS(+Galileo) · до 10 Гц · компас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22960" y="5038344"/>
            <a:ext cx="10515600" cy="0"/>
          </a:xfrm>
          <a:prstGeom prst="line">
            <a:avLst/>
          </a:prstGeom>
          <a:ln w="12700">
            <a:solidFill>
              <a:srgbClr val="EEF0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868680" y="5276088"/>
            <a:ext cx="182880" cy="182880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4440" y="5212079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B7280"/>
                </a:solidFill>
                <a:latin typeface="Nunito Sans"/>
              </a:rPr>
              <a:t>Батарея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88920" y="5193792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11827"/>
                </a:solidFill>
                <a:latin typeface="Nunito Sans"/>
              </a:rPr>
              <a:t>3S 2200 мА·год 30C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0" y="5212079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Nunito Sans"/>
              </a:rPr>
              <a:t>висіння ≈ 8,3 А → ≈ 13 хв польоту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22960" y="5705856"/>
            <a:ext cx="10515600" cy="0"/>
          </a:xfrm>
          <a:prstGeom prst="line">
            <a:avLst/>
          </a:prstGeom>
          <a:ln w="12700">
            <a:solidFill>
              <a:srgbClr val="EEF0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Oval 44"/>
          <p:cNvSpPr/>
          <p:nvPr/>
        </p:nvSpPr>
        <p:spPr>
          <a:xfrm>
            <a:off x="868680" y="5943600"/>
            <a:ext cx="182880" cy="182880"/>
          </a:xfrm>
          <a:prstGeom prst="ellipse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34440" y="5879592"/>
            <a:ext cx="1554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B7280"/>
                </a:solidFill>
                <a:latin typeface="Nunito Sans"/>
              </a:rPr>
              <a:t>Зв’язок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788920" y="5861304"/>
            <a:ext cx="3566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11827"/>
                </a:solidFill>
                <a:latin typeface="Nunito Sans"/>
              </a:rPr>
              <a:t>ELRS (CRSF) + MAVLink 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5879592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6B7280"/>
                </a:solidFill>
                <a:latin typeface="Nunito Sans"/>
              </a:rPr>
              <a:t>пульт і телеметрія одним каналом; відео — окремо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7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3B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60"/>
              </a:spcAft>
            </a:pPr>
            <a:r>
              <a:rPr sz="1800" b="1">
                <a:solidFill>
                  <a:srgbClr val="FFFFFF"/>
                </a:solidFill>
                <a:latin typeface="Nunito San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2976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B7280"/>
                </a:solidFill>
                <a:latin typeface="Nunito Sans"/>
              </a:rPr>
              <a:t>НАЛАШТУВАННЯ · MISSION PLANNER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676656"/>
            <a:ext cx="8778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11827"/>
                </a:solidFill>
                <a:latin typeface="Nunito Sans"/>
              </a:rPr>
              <a:t>Рама X, режими і fail-safe</a:t>
            </a:r>
          </a:p>
        </p:txBody>
      </p:sp>
      <p:sp>
        <p:nvSpPr>
          <p:cNvPr id="7" name="Oval 6"/>
          <p:cNvSpPr/>
          <p:nvPr/>
        </p:nvSpPr>
        <p:spPr>
          <a:xfrm>
            <a:off x="1001268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8700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38459" y="594360"/>
            <a:ext cx="146304" cy="146304"/>
          </a:xfrm>
          <a:prstGeom prst="ellipse">
            <a:avLst/>
          </a:prstGeom>
          <a:solidFill>
            <a:srgbClr val="3B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3564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09959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8428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5860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1554480"/>
            <a:ext cx="54406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1700784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B7280"/>
                </a:solidFill>
                <a:latin typeface="Nunito Sans"/>
              </a:rPr>
              <a:t>Frame: Quad / X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" y="1773936"/>
            <a:ext cx="128016" cy="128016"/>
          </a:xfrm>
          <a:prstGeom prst="ellipse">
            <a:avLst/>
          </a:prstGeom>
          <a:solidFill>
            <a:srgbClr val="3B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2-frame-type-quad-x.png"/>
          <p:cNvPicPr>
            <a:picLocks noChangeAspect="1"/>
          </p:cNvPicPr>
          <p:nvPr/>
        </p:nvPicPr>
        <p:blipFill>
          <a:blip r:embed="rId3"/>
          <a:srcRect l="24000" b="36000"/>
          <a:stretch>
            <a:fillRect/>
          </a:stretch>
        </p:blipFill>
        <p:spPr>
          <a:xfrm>
            <a:off x="1775936" y="2103120"/>
            <a:ext cx="2986087" cy="2011680"/>
          </a:xfrm>
          <a:prstGeom prst="roundRect">
            <a:avLst>
              <a:gd name="adj" fmla="val 3636"/>
            </a:avLst>
          </a:prstGeom>
          <a:effectLst>
            <a:outerShdw blurRad="228600" dist="63500" dir="5400000" algn="t" rotWithShape="0">
              <a:srgbClr val="1E293B">
                <a:alpha val="16000"/>
              </a:srgbClr>
            </a:outerShdw>
          </a:effectLst>
        </p:spPr>
      </p:pic>
      <p:sp>
        <p:nvSpPr>
          <p:cNvPr id="18" name="Rounded Rectangle 17"/>
          <p:cNvSpPr/>
          <p:nvPr/>
        </p:nvSpPr>
        <p:spPr>
          <a:xfrm>
            <a:off x="6172200" y="1554480"/>
            <a:ext cx="5440680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700784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B7280"/>
                </a:solidFill>
                <a:latin typeface="Nunito Sans"/>
              </a:rPr>
              <a:t>Fail-safe: RC → RTL · батарея 10,8 В → RTL · GCS</a:t>
            </a:r>
          </a:p>
        </p:txBody>
      </p:sp>
      <p:sp>
        <p:nvSpPr>
          <p:cNvPr id="20" name="Oval 19"/>
          <p:cNvSpPr/>
          <p:nvPr/>
        </p:nvSpPr>
        <p:spPr>
          <a:xfrm>
            <a:off x="6428232" y="1773936"/>
            <a:ext cx="128016" cy="128016"/>
          </a:xfrm>
          <a:prstGeom prst="ellipse">
            <a:avLst/>
          </a:prstGeom>
          <a:solidFill>
            <a:srgbClr val="E0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07-failsafe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7190349" y="2103120"/>
            <a:ext cx="3404381" cy="2011680"/>
          </a:xfrm>
          <a:prstGeom prst="roundRect">
            <a:avLst>
              <a:gd name="adj" fmla="val 3636"/>
            </a:avLst>
          </a:prstGeom>
          <a:effectLst>
            <a:outerShdw blurRad="228600" dist="63500" dir="5400000" algn="t" rotWithShape="0">
              <a:srgbClr val="1E293B">
                <a:alpha val="16000"/>
              </a:srgbClr>
            </a:outerShdw>
          </a:effectLst>
        </p:spPr>
      </p:pic>
      <p:sp>
        <p:nvSpPr>
          <p:cNvPr id="22" name="Rounded Rectangle 21"/>
          <p:cNvSpPr/>
          <p:nvPr/>
        </p:nvSpPr>
        <p:spPr>
          <a:xfrm>
            <a:off x="548640" y="4480560"/>
            <a:ext cx="5440680" cy="210312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4626864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B7280"/>
                </a:solidFill>
                <a:latin typeface="Nunito Sans"/>
              </a:rPr>
              <a:t>Режими польоту (6 положень перемикача)</a:t>
            </a:r>
          </a:p>
        </p:txBody>
      </p:sp>
      <p:sp>
        <p:nvSpPr>
          <p:cNvPr id="24" name="Oval 23"/>
          <p:cNvSpPr/>
          <p:nvPr/>
        </p:nvSpPr>
        <p:spPr>
          <a:xfrm>
            <a:off x="804672" y="4700016"/>
            <a:ext cx="128016" cy="128016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06-flight-modes.png"/>
          <p:cNvPicPr>
            <a:picLocks noChangeAspect="1"/>
          </p:cNvPicPr>
          <p:nvPr/>
        </p:nvPicPr>
        <p:blipFill>
          <a:blip r:embed="rId5"/>
          <a:srcRect l="13000" b="8000"/>
          <a:stretch>
            <a:fillRect/>
          </a:stretch>
        </p:blipFill>
        <p:spPr>
          <a:xfrm>
            <a:off x="1416042" y="5029200"/>
            <a:ext cx="3705875" cy="1371599"/>
          </a:xfrm>
          <a:prstGeom prst="roundRect">
            <a:avLst>
              <a:gd name="adj" fmla="val 5333"/>
            </a:avLst>
          </a:prstGeom>
          <a:effectLst>
            <a:outerShdw blurRad="228600" dist="63500" dir="5400000" algn="t" rotWithShape="0">
              <a:srgbClr val="1E293B">
                <a:alpha val="16000"/>
              </a:srgbClr>
            </a:outerShdw>
          </a:effectLst>
        </p:spPr>
      </p:pic>
      <p:sp>
        <p:nvSpPr>
          <p:cNvPr id="26" name="Rounded Rectangle 25"/>
          <p:cNvSpPr/>
          <p:nvPr/>
        </p:nvSpPr>
        <p:spPr>
          <a:xfrm>
            <a:off x="6172200" y="4480560"/>
            <a:ext cx="5440680" cy="210312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626864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B7280"/>
                </a:solidFill>
                <a:latin typeface="Nunito Sans"/>
              </a:rPr>
              <a:t>Калібрування рівня і акселерометра — Completed</a:t>
            </a:r>
          </a:p>
        </p:txBody>
      </p:sp>
      <p:sp>
        <p:nvSpPr>
          <p:cNvPr id="28" name="Oval 27"/>
          <p:cNvSpPr/>
          <p:nvPr/>
        </p:nvSpPr>
        <p:spPr>
          <a:xfrm>
            <a:off x="6428232" y="4700016"/>
            <a:ext cx="128016" cy="128016"/>
          </a:xfrm>
          <a:prstGeom prst="ellipse">
            <a:avLst/>
          </a:prstGeom>
          <a:solidFill>
            <a:srgbClr val="16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03-accel-calibration.png"/>
          <p:cNvPicPr>
            <a:picLocks noChangeAspect="1"/>
          </p:cNvPicPr>
          <p:nvPr/>
        </p:nvPicPr>
        <p:blipFill>
          <a:blip r:embed="rId6"/>
          <a:srcRect l="28000" r="25000"/>
          <a:stretch>
            <a:fillRect/>
          </a:stretch>
        </p:blipFill>
        <p:spPr>
          <a:xfrm>
            <a:off x="8140446" y="5029200"/>
            <a:ext cx="1504187" cy="1371599"/>
          </a:xfrm>
          <a:prstGeom prst="roundRect">
            <a:avLst>
              <a:gd name="adj" fmla="val 5333"/>
            </a:avLst>
          </a:prstGeom>
          <a:effectLst>
            <a:outerShdw blurRad="228600" dist="63500" dir="5400000" algn="t" rotWithShape="0">
              <a:srgbClr val="1E293B">
                <a:alpha val="16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7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3B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60"/>
              </a:spcAft>
            </a:pPr>
            <a:r>
              <a:rPr sz="1800" b="1">
                <a:solidFill>
                  <a:srgbClr val="FFFFFF"/>
                </a:solidFill>
                <a:latin typeface="Nunito Sans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2976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B7280"/>
                </a:solidFill>
                <a:latin typeface="Nunito Sans"/>
              </a:rPr>
              <a:t>ПЕРЕДПОЛЬОТНА ПЕРЕВІРКА · UAV LOG VIEWER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676656"/>
            <a:ext cx="8778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11827"/>
                </a:solidFill>
                <a:latin typeface="Nunito Sans"/>
              </a:rPr>
              <a:t>Перед зльотом і в польоті все в нормі</a:t>
            </a:r>
          </a:p>
        </p:txBody>
      </p:sp>
      <p:sp>
        <p:nvSpPr>
          <p:cNvPr id="7" name="Oval 6"/>
          <p:cNvSpPr/>
          <p:nvPr/>
        </p:nvSpPr>
        <p:spPr>
          <a:xfrm>
            <a:off x="1001268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8700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38459" y="594360"/>
            <a:ext cx="146304" cy="146304"/>
          </a:xfrm>
          <a:prstGeom prst="ellipse">
            <a:avLst/>
          </a:prstGeom>
          <a:solidFill>
            <a:srgbClr val="3B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3564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09959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8428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5860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1554480"/>
            <a:ext cx="2651760" cy="150876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1755648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16A06A"/>
                </a:solidFill>
                <a:latin typeface="Nunito Sans"/>
              </a:rPr>
              <a:t>≤ 0,07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2487168"/>
            <a:ext cx="21945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6B7280"/>
                </a:solidFill>
                <a:latin typeface="Nunito Sans"/>
              </a:rPr>
              <a:t>EKF variance · норма &lt; 0,5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55848" y="1554480"/>
            <a:ext cx="2651760" cy="150876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0168" y="1755648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16A06A"/>
                </a:solidFill>
                <a:latin typeface="Nunito Sans"/>
              </a:rPr>
              <a:t>1,21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2487168"/>
            <a:ext cx="21945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6B7280"/>
                </a:solidFill>
                <a:latin typeface="Nunito Sans"/>
              </a:rPr>
              <a:t>GPS HDop · норма &lt; 1,5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5" y="1554480"/>
            <a:ext cx="2651760" cy="150876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5" y="1755648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3B6FD8"/>
                </a:solidFill>
                <a:latin typeface="Nunito Sans"/>
              </a:rPr>
              <a:t>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5" y="2487168"/>
            <a:ext cx="21945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6B7280"/>
                </a:solidFill>
                <a:latin typeface="Nunito Sans"/>
              </a:rPr>
              <a:t>супутників GPS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0263" y="1554480"/>
            <a:ext cx="2651760" cy="150876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44584" y="1755648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16A06A"/>
                </a:solidFill>
                <a:latin typeface="Nunito Sans"/>
              </a:rPr>
              <a:t>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4584" y="2487168"/>
            <a:ext cx="2194560" cy="502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6B7280"/>
                </a:solidFill>
                <a:latin typeface="Nunito Sans"/>
              </a:rPr>
              <a:t>Clip — без «зашкалу» IMU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291840"/>
            <a:ext cx="544068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59" y="3438144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B7280"/>
                </a:solidFill>
                <a:latin typeface="Nunito Sans"/>
              </a:rPr>
              <a:t>EKF (XKF4.SV/SP) і GPS (HDop, NSats)</a:t>
            </a:r>
          </a:p>
        </p:txBody>
      </p:sp>
      <p:sp>
        <p:nvSpPr>
          <p:cNvPr id="28" name="Oval 27"/>
          <p:cNvSpPr/>
          <p:nvPr/>
        </p:nvSpPr>
        <p:spPr>
          <a:xfrm>
            <a:off x="804672" y="3511296"/>
            <a:ext cx="128016" cy="128016"/>
          </a:xfrm>
          <a:prstGeom prst="ellipse">
            <a:avLst/>
          </a:prstGeom>
          <a:solidFill>
            <a:srgbClr val="3B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demo-EKF-GPS.png"/>
          <p:cNvPicPr>
            <a:picLocks noChangeAspect="1"/>
          </p:cNvPicPr>
          <p:nvPr/>
        </p:nvPicPr>
        <p:blipFill>
          <a:blip r:embed="rId3"/>
          <a:srcRect l="2000" t="10000" b="24000"/>
          <a:stretch>
            <a:fillRect/>
          </a:stretch>
        </p:blipFill>
        <p:spPr>
          <a:xfrm>
            <a:off x="777240" y="4547887"/>
            <a:ext cx="4983480" cy="1145504"/>
          </a:xfrm>
          <a:prstGeom prst="roundRect">
            <a:avLst>
              <a:gd name="adj" fmla="val 6386"/>
            </a:avLst>
          </a:prstGeom>
          <a:effectLst>
            <a:outerShdw blurRad="228600" dist="63500" dir="5400000" algn="t" rotWithShape="0">
              <a:srgbClr val="1E293B">
                <a:alpha val="16000"/>
              </a:srgbClr>
            </a:outerShdw>
          </a:effectLst>
        </p:spPr>
      </p:pic>
      <p:sp>
        <p:nvSpPr>
          <p:cNvPr id="30" name="Rounded Rectangle 29"/>
          <p:cNvSpPr/>
          <p:nvPr/>
        </p:nvSpPr>
        <p:spPr>
          <a:xfrm>
            <a:off x="6172200" y="3291840"/>
            <a:ext cx="5440680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20" y="3438144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B7280"/>
                </a:solidFill>
                <a:latin typeface="Nunito Sans"/>
              </a:rPr>
              <a:t>Вібрації X/Y/Z ≤ 1,75 м/с² · Clip = 0</a:t>
            </a:r>
          </a:p>
        </p:txBody>
      </p:sp>
      <p:sp>
        <p:nvSpPr>
          <p:cNvPr id="32" name="Oval 31"/>
          <p:cNvSpPr/>
          <p:nvPr/>
        </p:nvSpPr>
        <p:spPr>
          <a:xfrm>
            <a:off x="6428232" y="3511296"/>
            <a:ext cx="128016" cy="128016"/>
          </a:xfrm>
          <a:prstGeom prst="ellipse">
            <a:avLst/>
          </a:prstGeom>
          <a:solidFill>
            <a:srgbClr val="16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demo-VIBE-Clip.png"/>
          <p:cNvPicPr>
            <a:picLocks noChangeAspect="1"/>
          </p:cNvPicPr>
          <p:nvPr/>
        </p:nvPicPr>
        <p:blipFill>
          <a:blip r:embed="rId4"/>
          <a:srcRect l="2000" t="10000" b="24000"/>
          <a:stretch>
            <a:fillRect/>
          </a:stretch>
        </p:blipFill>
        <p:spPr>
          <a:xfrm>
            <a:off x="6400800" y="4547887"/>
            <a:ext cx="4983480" cy="1145504"/>
          </a:xfrm>
          <a:prstGeom prst="roundRect">
            <a:avLst>
              <a:gd name="adj" fmla="val 6386"/>
            </a:avLst>
          </a:prstGeom>
          <a:effectLst>
            <a:outerShdw blurRad="228600" dist="63500" dir="5400000" algn="t" rotWithShape="0">
              <a:srgbClr val="1E293B">
                <a:alpha val="16000"/>
              </a:srgbClr>
            </a:outerShdw>
          </a:effectLst>
        </p:spPr>
      </p:pic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7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3B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60"/>
              </a:spcAft>
            </a:pPr>
            <a:r>
              <a:rPr sz="1800" b="1">
                <a:solidFill>
                  <a:srgbClr val="FFFFFF"/>
                </a:solidFill>
                <a:latin typeface="Nunito San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2976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B7280"/>
                </a:solidFill>
                <a:latin typeface="Nunito Sans"/>
              </a:rPr>
              <a:t>SITL-МІСІЯ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676656"/>
            <a:ext cx="8778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11827"/>
                </a:solidFill>
                <a:latin typeface="Nunito Sans"/>
              </a:rPr>
              <a:t>5 точок, Geofence і відмова пульта</a:t>
            </a:r>
          </a:p>
        </p:txBody>
      </p:sp>
      <p:sp>
        <p:nvSpPr>
          <p:cNvPr id="7" name="Oval 6"/>
          <p:cNvSpPr/>
          <p:nvPr/>
        </p:nvSpPr>
        <p:spPr>
          <a:xfrm>
            <a:off x="1001268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8700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61319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12780" y="594360"/>
            <a:ext cx="146304" cy="146304"/>
          </a:xfrm>
          <a:prstGeom prst="ellipse">
            <a:avLst/>
          </a:prstGeom>
          <a:solidFill>
            <a:srgbClr val="3B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09959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8428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5860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1554480"/>
            <a:ext cx="6035040" cy="5029200"/>
          </a:xfrm>
          <a:prstGeom prst="roundRect">
            <a:avLst>
              <a:gd name="adj" fmla="val 3272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1700784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B7280"/>
                </a:solidFill>
                <a:latin typeface="Nunito Sans"/>
              </a:rPr>
              <a:t>Місія в Mission Planner (PLAN)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" y="1773936"/>
            <a:ext cx="128016" cy="128016"/>
          </a:xfrm>
          <a:prstGeom prst="ellipse">
            <a:avLst/>
          </a:prstGeom>
          <a:solidFill>
            <a:srgbClr val="3B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01-plan-mission-5wp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25459" y="2103120"/>
            <a:ext cx="4681401" cy="4297680"/>
          </a:xfrm>
          <a:prstGeom prst="roundRect">
            <a:avLst>
              <a:gd name="adj" fmla="val 1702"/>
            </a:avLst>
          </a:prstGeom>
          <a:effectLst>
            <a:outerShdw blurRad="228600" dist="63500" dir="5400000" algn="t" rotWithShape="0">
              <a:srgbClr val="1E293B">
                <a:alpha val="16000"/>
              </a:srgbClr>
            </a:outerShdw>
          </a:effectLst>
        </p:spPr>
      </p:pic>
      <p:sp>
        <p:nvSpPr>
          <p:cNvPr id="18" name="Rounded Rectangle 17"/>
          <p:cNvSpPr/>
          <p:nvPr/>
        </p:nvSpPr>
        <p:spPr>
          <a:xfrm>
            <a:off x="6812280" y="1554480"/>
            <a:ext cx="4800600" cy="896112"/>
          </a:xfrm>
          <a:prstGeom prst="roundRect">
            <a:avLst>
              <a:gd name="adj" fmla="val 12244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59168" y="1901952"/>
            <a:ext cx="201168" cy="201168"/>
          </a:xfrm>
          <a:prstGeom prst="ellipse">
            <a:avLst/>
          </a:prstGeom>
          <a:solidFill>
            <a:srgbClr val="3B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24927" y="1682495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7280"/>
                </a:solidFill>
                <a:latin typeface="Nunito Sans"/>
              </a:rPr>
              <a:t>Точки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4927" y="1956816"/>
            <a:ext cx="4069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11827"/>
                </a:solidFill>
                <a:latin typeface="Nunito Sans"/>
              </a:rPr>
              <a:t>5 на висотах 20 / 35 / 50 / 30 / 25 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12280" y="2578608"/>
            <a:ext cx="4800600" cy="896112"/>
          </a:xfrm>
          <a:prstGeom prst="roundRect">
            <a:avLst>
              <a:gd name="adj" fmla="val 12244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059168" y="2926080"/>
            <a:ext cx="201168" cy="20116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24927" y="2706624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7280"/>
                </a:solidFill>
                <a:latin typeface="Nunito Sans"/>
              </a:rPr>
              <a:t>Дії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4927" y="2980944"/>
            <a:ext cx="4069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11827"/>
                </a:solidFill>
                <a:latin typeface="Nunito Sans"/>
              </a:rPr>
              <a:t>швидкість 5 м/с · Delay 5 с · RTL у кінці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12280" y="3602736"/>
            <a:ext cx="4800600" cy="896112"/>
          </a:xfrm>
          <a:prstGeom prst="roundRect">
            <a:avLst>
              <a:gd name="adj" fmla="val 12244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059168" y="3950208"/>
            <a:ext cx="201168" cy="201168"/>
          </a:xfrm>
          <a:prstGeom prst="ellipse">
            <a:avLst/>
          </a:prstGeom>
          <a:solidFill>
            <a:srgbClr val="D99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24927" y="3730752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7280"/>
                </a:solidFill>
                <a:latin typeface="Nunito Sans"/>
              </a:rPr>
              <a:t>Geofence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24927" y="4005072"/>
            <a:ext cx="4069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11827"/>
                </a:solidFill>
                <a:latin typeface="Nunito Sans"/>
              </a:rPr>
              <a:t>радіус 150 м · стеля 60 м → RTL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12280" y="4626864"/>
            <a:ext cx="4800600" cy="896112"/>
          </a:xfrm>
          <a:prstGeom prst="roundRect">
            <a:avLst>
              <a:gd name="adj" fmla="val 12244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59168" y="4974336"/>
            <a:ext cx="201168" cy="201168"/>
          </a:xfrm>
          <a:prstGeom prst="ellipse">
            <a:avLst/>
          </a:prstGeom>
          <a:solidFill>
            <a:srgbClr val="E0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24927" y="4754880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7280"/>
                </a:solidFill>
                <a:latin typeface="Nunito Sans"/>
              </a:rPr>
              <a:t>Fail-safe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24927" y="5029200"/>
            <a:ext cx="4069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11827"/>
                </a:solidFill>
                <a:latin typeface="Nunito Sans"/>
              </a:rPr>
              <a:t>rc 3 900 → RTL одразу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12280" y="5650992"/>
            <a:ext cx="4800600" cy="896112"/>
          </a:xfrm>
          <a:prstGeom prst="roundRect">
            <a:avLst>
              <a:gd name="adj" fmla="val 12244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059168" y="5998464"/>
            <a:ext cx="201168" cy="201168"/>
          </a:xfrm>
          <a:prstGeom prst="ellipse">
            <a:avLst/>
          </a:prstGeom>
          <a:solidFill>
            <a:srgbClr val="16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24927" y="5779008"/>
            <a:ext cx="4023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B7280"/>
                </a:solidFill>
                <a:latin typeface="Nunito Sans"/>
              </a:rPr>
              <a:t>Результат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24927" y="6053328"/>
            <a:ext cx="40690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11827"/>
                </a:solidFill>
                <a:latin typeface="Nunito Sans"/>
              </a:rPr>
              <a:t>усі 5 точок, RTL, посадка, DISARM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7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3B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60"/>
              </a:spcAft>
            </a:pPr>
            <a:r>
              <a:rPr sz="1800" b="1">
                <a:solidFill>
                  <a:srgbClr val="FFFFFF"/>
                </a:solidFill>
                <a:latin typeface="Nunito Sans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2976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B7280"/>
                </a:solidFill>
                <a:latin typeface="Nunito Sans"/>
              </a:rPr>
              <a:t>ЛОГ МІСІЇ · UAV LOG VIEWER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676656"/>
            <a:ext cx="8778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11827"/>
                </a:solidFill>
                <a:latin typeface="Nunito Sans"/>
              </a:rPr>
              <a:t>Висоти точок і відмова пульта в лозі</a:t>
            </a:r>
          </a:p>
        </p:txBody>
      </p:sp>
      <p:sp>
        <p:nvSpPr>
          <p:cNvPr id="7" name="Oval 6"/>
          <p:cNvSpPr/>
          <p:nvPr/>
        </p:nvSpPr>
        <p:spPr>
          <a:xfrm>
            <a:off x="1001268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8700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61319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12780" y="594360"/>
            <a:ext cx="146304" cy="146304"/>
          </a:xfrm>
          <a:prstGeom prst="ellipse">
            <a:avLst/>
          </a:prstGeom>
          <a:solidFill>
            <a:srgbClr val="3B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09959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8428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5860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1554480"/>
            <a:ext cx="11064240" cy="28803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1700784"/>
            <a:ext cx="105156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B7280"/>
                </a:solidFill>
                <a:latin typeface="Nunito Sans"/>
              </a:rPr>
              <a:t>CTUN.Alt · політ 1: AUTO 20 → 35 → 50 → 30 → 25 м, RTL 40 м · політ 2: AUTO, відмова, RTL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" y="1773936"/>
            <a:ext cx="128016" cy="128016"/>
          </a:xfrm>
          <a:prstGeom prst="ellipse">
            <a:avLst/>
          </a:prstGeom>
          <a:solidFill>
            <a:srgbClr val="3B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emo-CTUN-Alt-modes.png"/>
          <p:cNvPicPr>
            <a:picLocks noChangeAspect="1"/>
          </p:cNvPicPr>
          <p:nvPr/>
        </p:nvPicPr>
        <p:blipFill>
          <a:blip r:embed="rId3"/>
          <a:srcRect l="2000" t="10000" b="24000"/>
          <a:stretch>
            <a:fillRect/>
          </a:stretch>
        </p:blipFill>
        <p:spPr>
          <a:xfrm>
            <a:off x="1406530" y="2103120"/>
            <a:ext cx="9348458" cy="2148840"/>
          </a:xfrm>
          <a:prstGeom prst="roundRect">
            <a:avLst>
              <a:gd name="adj" fmla="val 3404"/>
            </a:avLst>
          </a:prstGeom>
          <a:effectLst>
            <a:outerShdw blurRad="228600" dist="63500" dir="5400000" algn="t" rotWithShape="0">
              <a:srgbClr val="1E293B">
                <a:alpha val="16000"/>
              </a:srgbClr>
            </a:outerShdw>
          </a:effectLst>
        </p:spPr>
      </p:pic>
      <p:sp>
        <p:nvSpPr>
          <p:cNvPr id="18" name="Rounded Rectangle 17"/>
          <p:cNvSpPr/>
          <p:nvPr/>
        </p:nvSpPr>
        <p:spPr>
          <a:xfrm>
            <a:off x="548640" y="4572000"/>
            <a:ext cx="6949440" cy="2011680"/>
          </a:xfrm>
          <a:prstGeom prst="roundRect">
            <a:avLst>
              <a:gd name="adj" fmla="val 8181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718304"/>
            <a:ext cx="6400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B7280"/>
                </a:solidFill>
                <a:latin typeface="Nunito Sans"/>
              </a:rPr>
              <a:t>RCIN.C3 — канал газу</a:t>
            </a:r>
          </a:p>
        </p:txBody>
      </p:sp>
      <p:sp>
        <p:nvSpPr>
          <p:cNvPr id="20" name="Oval 19"/>
          <p:cNvSpPr/>
          <p:nvPr/>
        </p:nvSpPr>
        <p:spPr>
          <a:xfrm>
            <a:off x="804672" y="4791456"/>
            <a:ext cx="128016" cy="128016"/>
          </a:xfrm>
          <a:prstGeom prst="ellipse">
            <a:avLst/>
          </a:prstGeom>
          <a:solidFill>
            <a:srgbClr val="E0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demo-RCIN-C3-failsafe.png"/>
          <p:cNvPicPr>
            <a:picLocks noChangeAspect="1"/>
          </p:cNvPicPr>
          <p:nvPr/>
        </p:nvPicPr>
        <p:blipFill>
          <a:blip r:embed="rId4"/>
          <a:srcRect l="2000" t="10000" b="24000"/>
          <a:stretch>
            <a:fillRect/>
          </a:stretch>
        </p:blipFill>
        <p:spPr>
          <a:xfrm>
            <a:off x="1238712" y="5120640"/>
            <a:ext cx="5569294" cy="1280160"/>
          </a:xfrm>
          <a:prstGeom prst="roundRect">
            <a:avLst>
              <a:gd name="adj" fmla="val 5714"/>
            </a:avLst>
          </a:prstGeom>
          <a:effectLst>
            <a:outerShdw blurRad="228600" dist="63500" dir="5400000" algn="t" rotWithShape="0">
              <a:srgbClr val="1E293B">
                <a:alpha val="16000"/>
              </a:srgbClr>
            </a:outerShdw>
          </a:effectLst>
        </p:spPr>
      </p:pic>
      <p:sp>
        <p:nvSpPr>
          <p:cNvPr id="22" name="Rounded Rectangle 21"/>
          <p:cNvSpPr/>
          <p:nvPr/>
        </p:nvSpPr>
        <p:spPr>
          <a:xfrm>
            <a:off x="7726679" y="4572000"/>
            <a:ext cx="3886200" cy="2011680"/>
          </a:xfrm>
          <a:prstGeom prst="roundRect">
            <a:avLst>
              <a:gd name="adj" fmla="val 9090"/>
            </a:avLst>
          </a:prstGeom>
          <a:solidFill>
            <a:srgbClr val="0E1421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01000" y="4773168"/>
            <a:ext cx="3383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8FE3B5"/>
                </a:solidFill>
                <a:latin typeface="Nunito Sans"/>
              </a:rPr>
              <a:t>rc 3 900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5321808"/>
            <a:ext cx="33832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20"/>
              </a:spcAft>
            </a:pPr>
            <a:r>
              <a:rPr sz="1600" b="0">
                <a:solidFill>
                  <a:srgbClr val="C9D3E3"/>
                </a:solidFill>
                <a:latin typeface="Nunito Sans"/>
              </a:rPr>
              <a:t>Газ 1000 → 900 — і в ту ж мить режим RTL (жовта смуга)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7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3B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60"/>
              </a:spcAft>
            </a:pPr>
            <a:r>
              <a:rPr sz="1800" b="1">
                <a:solidFill>
                  <a:srgbClr val="FFFFFF"/>
                </a:solidFill>
                <a:latin typeface="Nunito Sans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2976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B7280"/>
                </a:solidFill>
                <a:latin typeface="Nunito Sans"/>
              </a:rPr>
              <a:t>АНАЛІЗ ЛОГУ · PID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676656"/>
            <a:ext cx="8778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11827"/>
                </a:solidFill>
                <a:latin typeface="Nunito Sans"/>
              </a:rPr>
              <a:t>P = 0,40: дрон розгойдується</a:t>
            </a:r>
          </a:p>
        </p:txBody>
      </p:sp>
      <p:sp>
        <p:nvSpPr>
          <p:cNvPr id="7" name="Oval 6"/>
          <p:cNvSpPr/>
          <p:nvPr/>
        </p:nvSpPr>
        <p:spPr>
          <a:xfrm>
            <a:off x="1001268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8700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61319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3564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087099" y="594360"/>
            <a:ext cx="146304" cy="146304"/>
          </a:xfrm>
          <a:prstGeom prst="ellipse">
            <a:avLst/>
          </a:prstGeom>
          <a:solidFill>
            <a:srgbClr val="3B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8428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5860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1554480"/>
            <a:ext cx="7040880" cy="5029200"/>
          </a:xfrm>
          <a:prstGeom prst="roundRect">
            <a:avLst>
              <a:gd name="adj" fmla="val 3272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1700784"/>
            <a:ext cx="6492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B7280"/>
                </a:solidFill>
                <a:latin typeface="Nunito Sans"/>
              </a:rPr>
              <a:t>RATE Roll · синя — команда, помаранчева — дрон, °/с · 400 Гц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" y="1773936"/>
            <a:ext cx="128016" cy="128016"/>
          </a:xfrm>
          <a:prstGeom prst="ellipse">
            <a:avLst/>
          </a:prstGeom>
          <a:solidFill>
            <a:srgbClr val="E0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td-pid-roll-P0.40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77239" y="3010466"/>
            <a:ext cx="6583680" cy="2482987"/>
          </a:xfrm>
          <a:prstGeom prst="roundRect">
            <a:avLst>
              <a:gd name="adj" fmla="val 2946"/>
            </a:avLst>
          </a:prstGeom>
          <a:effectLst>
            <a:outerShdw blurRad="228600" dist="63500" dir="5400000" algn="t" rotWithShape="0">
              <a:srgbClr val="1E293B">
                <a:alpha val="16000"/>
              </a:srgbClr>
            </a:outerShdw>
          </a:effectLst>
        </p:spPr>
      </p:pic>
      <p:sp>
        <p:nvSpPr>
          <p:cNvPr id="18" name="Rounded Rectangle 17"/>
          <p:cNvSpPr/>
          <p:nvPr/>
        </p:nvSpPr>
        <p:spPr>
          <a:xfrm>
            <a:off x="7818120" y="1554480"/>
            <a:ext cx="3794760" cy="155448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92440" y="1874519"/>
            <a:ext cx="146304" cy="146304"/>
          </a:xfrm>
          <a:prstGeom prst="ellipse">
            <a:avLst/>
          </a:prstGeom>
          <a:solidFill>
            <a:srgbClr val="E0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48472" y="1792224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B7280"/>
                </a:solidFill>
                <a:latin typeface="Nunito Sans"/>
              </a:rPr>
              <a:t>Симптом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92440" y="2267712"/>
            <a:ext cx="324612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60"/>
              </a:spcAft>
            </a:pPr>
            <a:r>
              <a:rPr sz="1800" b="0">
                <a:solidFill>
                  <a:srgbClr val="111827"/>
                </a:solidFill>
                <a:latin typeface="Nunito Sans"/>
              </a:rPr>
              <a:t>коливання ±115 °/с навіть при нульовій команді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18120" y="3264408"/>
            <a:ext cx="3794760" cy="155448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92440" y="3584448"/>
            <a:ext cx="146304" cy="146304"/>
          </a:xfrm>
          <a:prstGeom prst="ellipse">
            <a:avLst/>
          </a:prstGeom>
          <a:solidFill>
            <a:srgbClr val="3B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48472" y="350215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B7280"/>
                </a:solidFill>
                <a:latin typeface="Nunito Sans"/>
              </a:rPr>
              <a:t>Де в лозі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977640"/>
            <a:ext cx="3246120" cy="6583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60"/>
              </a:spcAft>
            </a:pPr>
            <a:r>
              <a:rPr sz="1800" b="0">
                <a:solidFill>
                  <a:srgbClr val="111827"/>
                </a:solidFill>
                <a:latin typeface="Nunito Sans"/>
              </a:rPr>
              <a:t>RATE.R vs RATE.RDes, кожна команда крену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4974336"/>
            <a:ext cx="3794760" cy="1554480"/>
          </a:xfrm>
          <a:prstGeom prst="roundRect">
            <a:avLst>
              <a:gd name="adj" fmla="val 7058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92440" y="5294376"/>
            <a:ext cx="146304" cy="146304"/>
          </a:xfrm>
          <a:prstGeom prst="ellipse">
            <a:avLst/>
          </a:prstGeom>
          <a:solidFill>
            <a:srgbClr val="D99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48472" y="5212080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6B7280"/>
                </a:solidFill>
                <a:latin typeface="Nunito Sans"/>
              </a:rPr>
              <a:t>Гіпотеза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5687568"/>
            <a:ext cx="3246120" cy="65836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60"/>
              </a:spcAft>
            </a:pPr>
            <a:r>
              <a:rPr sz="1800" b="0">
                <a:solidFill>
                  <a:srgbClr val="111827"/>
                </a:solidFill>
                <a:latin typeface="Nunito Sans"/>
              </a:rPr>
              <a:t>ATC_RAT_RLL_P завеликий → перерегулювання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7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3B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60"/>
              </a:spcAft>
            </a:pPr>
            <a:r>
              <a:rPr sz="1800" b="1">
                <a:solidFill>
                  <a:srgbClr val="FFFFFF"/>
                </a:solidFill>
                <a:latin typeface="Nunito Sans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2976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B7280"/>
                </a:solidFill>
                <a:latin typeface="Nunito Sans"/>
              </a:rPr>
              <a:t>ЗМІНА ПАРАМЕТРА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676656"/>
            <a:ext cx="8778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11827"/>
                </a:solidFill>
                <a:latin typeface="Nunito Sans"/>
              </a:rPr>
              <a:t>ATC_RAT_RLL_P: 0,40 → 0,135</a:t>
            </a:r>
          </a:p>
        </p:txBody>
      </p:sp>
      <p:sp>
        <p:nvSpPr>
          <p:cNvPr id="7" name="Oval 6"/>
          <p:cNvSpPr/>
          <p:nvPr/>
        </p:nvSpPr>
        <p:spPr>
          <a:xfrm>
            <a:off x="1001268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8700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61319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3564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09959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61419" y="594360"/>
            <a:ext cx="146304" cy="146304"/>
          </a:xfrm>
          <a:prstGeom prst="ellipse">
            <a:avLst/>
          </a:prstGeom>
          <a:solidFill>
            <a:srgbClr val="3B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5860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1554480"/>
            <a:ext cx="5440680" cy="301752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1700784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B7280"/>
                </a:solidFill>
                <a:latin typeface="Nunito Sans"/>
              </a:rPr>
              <a:t>ДО · P = 0,40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" y="1773936"/>
            <a:ext cx="128016" cy="128016"/>
          </a:xfrm>
          <a:prstGeom prst="ellipse">
            <a:avLst/>
          </a:prstGeom>
          <a:solidFill>
            <a:srgbClr val="E0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td-pid-roll-P0.40.png"/>
          <p:cNvPicPr>
            <a:picLocks noChangeAspect="1"/>
          </p:cNvPicPr>
          <p:nvPr/>
        </p:nvPicPr>
        <p:blipFill>
          <a:blip r:embed="rId3"/>
          <a:srcRect r="10000"/>
          <a:stretch>
            <a:fillRect/>
          </a:stretch>
        </p:blipFill>
        <p:spPr>
          <a:xfrm>
            <a:off x="777240" y="2201962"/>
            <a:ext cx="4983480" cy="2088315"/>
          </a:xfrm>
          <a:prstGeom prst="roundRect">
            <a:avLst>
              <a:gd name="adj" fmla="val 3502"/>
            </a:avLst>
          </a:prstGeom>
          <a:effectLst>
            <a:outerShdw blurRad="228600" dist="63500" dir="5400000" algn="t" rotWithShape="0">
              <a:srgbClr val="1E293B">
                <a:alpha val="16000"/>
              </a:srgbClr>
            </a:outerShdw>
          </a:effectLst>
        </p:spPr>
      </p:pic>
      <p:sp>
        <p:nvSpPr>
          <p:cNvPr id="18" name="Rounded Rectangle 17"/>
          <p:cNvSpPr/>
          <p:nvPr/>
        </p:nvSpPr>
        <p:spPr>
          <a:xfrm>
            <a:off x="6172200" y="1554480"/>
            <a:ext cx="5440680" cy="3017520"/>
          </a:xfrm>
          <a:prstGeom prst="roundRect">
            <a:avLst>
              <a:gd name="adj" fmla="val 5454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700784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B7280"/>
                </a:solidFill>
                <a:latin typeface="Nunito Sans"/>
              </a:rPr>
              <a:t>ПІСЛЯ · P = 0,135</a:t>
            </a:r>
          </a:p>
        </p:txBody>
      </p:sp>
      <p:sp>
        <p:nvSpPr>
          <p:cNvPr id="20" name="Oval 19"/>
          <p:cNvSpPr/>
          <p:nvPr/>
        </p:nvSpPr>
        <p:spPr>
          <a:xfrm>
            <a:off x="6428232" y="1773936"/>
            <a:ext cx="128016" cy="128016"/>
          </a:xfrm>
          <a:prstGeom prst="ellipse">
            <a:avLst/>
          </a:prstGeom>
          <a:solidFill>
            <a:srgbClr val="16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td-pid-roll-P0.135.png"/>
          <p:cNvPicPr>
            <a:picLocks noChangeAspect="1"/>
          </p:cNvPicPr>
          <p:nvPr/>
        </p:nvPicPr>
        <p:blipFill>
          <a:blip r:embed="rId4"/>
          <a:srcRect r="10000"/>
          <a:stretch>
            <a:fillRect/>
          </a:stretch>
        </p:blipFill>
        <p:spPr>
          <a:xfrm>
            <a:off x="6400800" y="2201962"/>
            <a:ext cx="4983480" cy="2088315"/>
          </a:xfrm>
          <a:prstGeom prst="roundRect">
            <a:avLst>
              <a:gd name="adj" fmla="val 3502"/>
            </a:avLst>
          </a:prstGeom>
          <a:effectLst>
            <a:outerShdw blurRad="228600" dist="63500" dir="5400000" algn="t" rotWithShape="0">
              <a:srgbClr val="1E293B">
                <a:alpha val="16000"/>
              </a:srgbClr>
            </a:outerShdw>
          </a:effectLst>
        </p:spPr>
      </p:pic>
      <p:sp>
        <p:nvSpPr>
          <p:cNvPr id="22" name="Rounded Rectangle 21"/>
          <p:cNvSpPr/>
          <p:nvPr/>
        </p:nvSpPr>
        <p:spPr>
          <a:xfrm>
            <a:off x="548640" y="475488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59" y="5074920"/>
            <a:ext cx="146304" cy="146304"/>
          </a:xfrm>
          <a:prstGeom prst="ellipse">
            <a:avLst/>
          </a:prstGeom>
          <a:solidFill>
            <a:srgbClr val="E0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4992624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80"/>
              </a:spcAft>
            </a:pPr>
            <a:r>
              <a:rPr sz="1400" b="1">
                <a:solidFill>
                  <a:srgbClr val="6B7280"/>
                </a:solidFill>
                <a:latin typeface="Nunito Sans"/>
              </a:rPr>
              <a:t>Симптом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59" y="5468112"/>
            <a:ext cx="2103120" cy="9326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80"/>
              </a:spcAft>
            </a:pPr>
            <a:r>
              <a:rPr sz="1900" b="0">
                <a:solidFill>
                  <a:srgbClr val="111827"/>
                </a:solidFill>
                <a:latin typeface="Nunito Sans"/>
              </a:rPr>
              <a:t>RMSE 87,4 °/с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18688" y="5440680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6B7280"/>
                </a:solidFill>
                <a:latin typeface="Nunito Sans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55848" y="475488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630168" y="5074920"/>
            <a:ext cx="146304" cy="146304"/>
          </a:xfrm>
          <a:prstGeom prst="ellipse">
            <a:avLst/>
          </a:prstGeom>
          <a:solidFill>
            <a:srgbClr val="D99A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86200" y="4992624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80"/>
              </a:spcAft>
            </a:pPr>
            <a:r>
              <a:rPr sz="1400" b="1">
                <a:solidFill>
                  <a:srgbClr val="6B7280"/>
                </a:solidFill>
                <a:latin typeface="Nunito Sans"/>
              </a:rPr>
              <a:t>Гіпотеза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30168" y="5468112"/>
            <a:ext cx="2103120" cy="9326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80"/>
              </a:spcAft>
            </a:pPr>
            <a:r>
              <a:rPr sz="1900" b="0">
                <a:solidFill>
                  <a:srgbClr val="111827"/>
                </a:solidFill>
                <a:latin typeface="Nunito Sans"/>
              </a:rPr>
              <a:t>P завеликий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25896" y="5440680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6B7280"/>
                </a:solidFill>
                <a:latin typeface="Nunito Sans"/>
              </a:rP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63055" y="475488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37375" y="5074920"/>
            <a:ext cx="146304" cy="146304"/>
          </a:xfrm>
          <a:prstGeom prst="ellipse">
            <a:avLst/>
          </a:prstGeom>
          <a:solidFill>
            <a:srgbClr val="3B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93407" y="4992624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80"/>
              </a:spcAft>
            </a:pPr>
            <a:r>
              <a:rPr sz="1400" b="1">
                <a:solidFill>
                  <a:srgbClr val="6B7280"/>
                </a:solidFill>
                <a:latin typeface="Nunito Sans"/>
              </a:rPr>
              <a:t>Нове значення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37375" y="5468112"/>
            <a:ext cx="2103120" cy="9326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80"/>
              </a:spcAft>
            </a:pPr>
            <a:r>
              <a:rPr sz="1900" b="0">
                <a:solidFill>
                  <a:srgbClr val="111827"/>
                </a:solidFill>
                <a:latin typeface="Nunito Sans"/>
              </a:rPr>
              <a:t>P = 0,135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33104" y="5440680"/>
            <a:ext cx="182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6B7280"/>
                </a:solidFill>
                <a:latin typeface="Nunito Sans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70263" y="4754880"/>
            <a:ext cx="26517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244584" y="5074920"/>
            <a:ext cx="146304" cy="146304"/>
          </a:xfrm>
          <a:prstGeom prst="ellipse">
            <a:avLst/>
          </a:prstGeom>
          <a:solidFill>
            <a:srgbClr val="16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00615" y="4992624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80"/>
              </a:spcAft>
            </a:pPr>
            <a:r>
              <a:rPr sz="1400" b="1">
                <a:solidFill>
                  <a:srgbClr val="6B7280"/>
                </a:solidFill>
                <a:latin typeface="Nunito Sans"/>
              </a:rPr>
              <a:t>Результат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44584" y="5468112"/>
            <a:ext cx="2103120" cy="93268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80"/>
              </a:spcAft>
            </a:pPr>
            <a:r>
              <a:rPr sz="1900" b="0">
                <a:solidFill>
                  <a:srgbClr val="111827"/>
                </a:solidFill>
                <a:latin typeface="Nunito Sans"/>
              </a:rPr>
              <a:t>RMSE 2,5 °/с · 3 повтори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7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60"/>
              </a:spcAft>
            </a:pPr>
            <a:r>
              <a:rPr sz="1800" b="1">
                <a:solidFill>
                  <a:srgbClr val="FFFFFF"/>
                </a:solidFill>
                <a:latin typeface="Nunito Sans"/>
              </a:rP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2976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B7280"/>
                </a:solidFill>
                <a:latin typeface="Nunito Sans"/>
              </a:rPr>
              <a:t>ДОДАТКОВО · FILTER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676656"/>
            <a:ext cx="8778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11827"/>
                </a:solidFill>
                <a:latin typeface="Nunito Sans"/>
              </a:rPr>
              <a:t>Notch-фільтр: завада від моторів −73 дБ</a:t>
            </a:r>
          </a:p>
        </p:txBody>
      </p:sp>
      <p:sp>
        <p:nvSpPr>
          <p:cNvPr id="7" name="Oval 6"/>
          <p:cNvSpPr/>
          <p:nvPr/>
        </p:nvSpPr>
        <p:spPr>
          <a:xfrm>
            <a:off x="1001268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8700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61319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3564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09959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8428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5860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1554480"/>
            <a:ext cx="5440680" cy="28803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1700784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B7280"/>
                </a:solidFill>
                <a:latin typeface="Nunito Sans"/>
              </a:rPr>
              <a:t>БЕЗ notch · пік ≈ 138 Гц лишається</a:t>
            </a:r>
          </a:p>
        </p:txBody>
      </p:sp>
      <p:sp>
        <p:nvSpPr>
          <p:cNvPr id="16" name="Oval 15"/>
          <p:cNvSpPr/>
          <p:nvPr/>
        </p:nvSpPr>
        <p:spPr>
          <a:xfrm>
            <a:off x="804672" y="1773936"/>
            <a:ext cx="128016" cy="128016"/>
          </a:xfrm>
          <a:prstGeom prst="ellipse">
            <a:avLst/>
          </a:prstGeom>
          <a:solidFill>
            <a:srgbClr val="E048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std-filter-notch-OFF.png"/>
          <p:cNvPicPr>
            <a:picLocks noChangeAspect="1"/>
          </p:cNvPicPr>
          <p:nvPr/>
        </p:nvPicPr>
        <p:blipFill>
          <a:blip r:embed="rId3"/>
          <a:srcRect r="10800"/>
          <a:stretch>
            <a:fillRect/>
          </a:stretch>
        </p:blipFill>
        <p:spPr>
          <a:xfrm>
            <a:off x="777240" y="2173290"/>
            <a:ext cx="4983480" cy="2008499"/>
          </a:xfrm>
          <a:prstGeom prst="roundRect">
            <a:avLst>
              <a:gd name="adj" fmla="val 3642"/>
            </a:avLst>
          </a:prstGeom>
          <a:effectLst>
            <a:outerShdw blurRad="228600" dist="63500" dir="5400000" algn="t" rotWithShape="0">
              <a:srgbClr val="1E293B">
                <a:alpha val="16000"/>
              </a:srgbClr>
            </a:outerShdw>
          </a:effectLst>
        </p:spPr>
      </p:pic>
      <p:sp>
        <p:nvSpPr>
          <p:cNvPr id="18" name="Rounded Rectangle 17"/>
          <p:cNvSpPr/>
          <p:nvPr/>
        </p:nvSpPr>
        <p:spPr>
          <a:xfrm>
            <a:off x="6172200" y="1554480"/>
            <a:ext cx="5440680" cy="28803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700784"/>
            <a:ext cx="4892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6B7280"/>
                </a:solidFill>
                <a:latin typeface="Nunito Sans"/>
              </a:rPr>
              <a:t>З notch · пік вирізано</a:t>
            </a:r>
          </a:p>
        </p:txBody>
      </p:sp>
      <p:sp>
        <p:nvSpPr>
          <p:cNvPr id="20" name="Oval 19"/>
          <p:cNvSpPr/>
          <p:nvPr/>
        </p:nvSpPr>
        <p:spPr>
          <a:xfrm>
            <a:off x="6428232" y="1773936"/>
            <a:ext cx="128016" cy="128016"/>
          </a:xfrm>
          <a:prstGeom prst="ellipse">
            <a:avLst/>
          </a:prstGeom>
          <a:solidFill>
            <a:srgbClr val="16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td-filter-notch-ON.png"/>
          <p:cNvPicPr>
            <a:picLocks noChangeAspect="1"/>
          </p:cNvPicPr>
          <p:nvPr/>
        </p:nvPicPr>
        <p:blipFill>
          <a:blip r:embed="rId4"/>
          <a:srcRect r="10800"/>
          <a:stretch>
            <a:fillRect/>
          </a:stretch>
        </p:blipFill>
        <p:spPr>
          <a:xfrm>
            <a:off x="6400800" y="2173290"/>
            <a:ext cx="4983480" cy="2008499"/>
          </a:xfrm>
          <a:prstGeom prst="roundRect">
            <a:avLst>
              <a:gd name="adj" fmla="val 3642"/>
            </a:avLst>
          </a:prstGeom>
          <a:effectLst>
            <a:outerShdw blurRad="228600" dist="63500" dir="5400000" algn="t" rotWithShape="0">
              <a:srgbClr val="1E293B">
                <a:alpha val="16000"/>
              </a:srgbClr>
            </a:outerShdw>
          </a:effectLst>
        </p:spPr>
      </p:pic>
      <p:sp>
        <p:nvSpPr>
          <p:cNvPr id="22" name="Rounded Rectangle 21"/>
          <p:cNvSpPr/>
          <p:nvPr/>
        </p:nvSpPr>
        <p:spPr>
          <a:xfrm>
            <a:off x="548640" y="4617720"/>
            <a:ext cx="54406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4818888"/>
            <a:ext cx="4983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E0484E"/>
                </a:solidFill>
                <a:latin typeface="Nunito Sans"/>
              </a:rPr>
              <a:t>≈ 36 дБ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59" y="5550408"/>
            <a:ext cx="498348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6B7280"/>
                </a:solidFill>
                <a:latin typeface="Nunito Sans"/>
              </a:rPr>
              <a:t>без notch — тільки звичайний фільтр гіроскопа 20 Гц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4617720"/>
            <a:ext cx="544068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4818888"/>
            <a:ext cx="4983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16A06A"/>
                </a:solidFill>
                <a:latin typeface="Nunito Sans"/>
              </a:rPr>
              <a:t>≈ 73 дБ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5550408"/>
            <a:ext cx="498348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6B7280"/>
                </a:solidFill>
                <a:latin typeface="Nunito Sans"/>
              </a:rPr>
              <a:t>з динамічним notch за обертами моторів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B7280"/>
                </a:solidFill>
                <a:latin typeface="Nunito Sans"/>
              </a:rPr>
              <a:t>Гіроскоп X · синя лінія — до фільтра, помаранчева — після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7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60"/>
              </a:spcAft>
            </a:pPr>
            <a:r>
              <a:rPr sz="1800" b="1">
                <a:solidFill>
                  <a:srgbClr val="FFFFFF"/>
                </a:solidFill>
                <a:latin typeface="Nunito Sans"/>
              </a:rPr>
              <a:t>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2976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B7280"/>
                </a:solidFill>
                <a:latin typeface="Nunito Sans"/>
              </a:rPr>
              <a:t>ДОДАТКОВО · AUTOTUNE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676656"/>
            <a:ext cx="8778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111827"/>
                </a:solidFill>
                <a:latin typeface="Nunito Sans"/>
              </a:rPr>
              <a:t>AutoTune: пройдено успішно</a:t>
            </a:r>
          </a:p>
        </p:txBody>
      </p:sp>
      <p:sp>
        <p:nvSpPr>
          <p:cNvPr id="7" name="Oval 6"/>
          <p:cNvSpPr/>
          <p:nvPr/>
        </p:nvSpPr>
        <p:spPr>
          <a:xfrm>
            <a:off x="1001268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28700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61319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83564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09959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38428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58600" y="617220"/>
            <a:ext cx="100584" cy="100584"/>
          </a:xfrm>
          <a:prstGeom prst="ellipse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155448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1755648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3B6FD8"/>
                </a:solidFill>
                <a:latin typeface="Nunito Sans"/>
              </a:rPr>
              <a:t>0,081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2487168"/>
            <a:ext cx="219456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6B7280"/>
                </a:solidFill>
                <a:latin typeface="Nunito Sans"/>
              </a:rPr>
              <a:t>Rate 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55848" y="155448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30168" y="1755648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3B6FD8"/>
                </a:solidFill>
                <a:latin typeface="Nunito Sans"/>
              </a:rPr>
              <a:t>0,081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2487168"/>
            <a:ext cx="219456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6B7280"/>
                </a:solidFill>
                <a:latin typeface="Nunito Sans"/>
              </a:rPr>
              <a:t>Rate 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5" y="155448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5" y="1755648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3B6FD8"/>
                </a:solidFill>
                <a:latin typeface="Nunito Sans"/>
              </a:rPr>
              <a:t>0,0003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5" y="2487168"/>
            <a:ext cx="219456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6B7280"/>
                </a:solidFill>
                <a:latin typeface="Nunito Sans"/>
              </a:rPr>
              <a:t>Rate 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0263" y="1554480"/>
            <a:ext cx="265176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44584" y="1755648"/>
            <a:ext cx="21945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4000" b="1">
                <a:solidFill>
                  <a:srgbClr val="8B5CF6"/>
                </a:solidFill>
                <a:latin typeface="Nunito Sans"/>
              </a:rPr>
              <a:t>25,4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4584" y="2487168"/>
            <a:ext cx="219456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0">
                <a:solidFill>
                  <a:srgbClr val="6B7280"/>
                </a:solidFill>
                <a:latin typeface="Nunito Sans"/>
              </a:rPr>
              <a:t>Angle P (було 4,5)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3429000"/>
            <a:ext cx="544068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2959" y="3749040"/>
            <a:ext cx="146304" cy="146304"/>
          </a:xfrm>
          <a:prstGeom prst="ellipse">
            <a:avLst/>
          </a:prstGeom>
          <a:solidFill>
            <a:srgbClr val="16A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366674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60"/>
              </a:spcAft>
            </a:pPr>
            <a:r>
              <a:rPr sz="1800" b="1">
                <a:solidFill>
                  <a:srgbClr val="6B7280"/>
                </a:solidFill>
                <a:latin typeface="Nunito Sans"/>
              </a:rPr>
              <a:t>Як запускав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" y="4142232"/>
            <a:ext cx="4892040" cy="2258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60"/>
              </a:spcAft>
            </a:pPr>
            <a:r>
              <a:rPr sz="1800" b="0">
                <a:solidFill>
                  <a:srgbClr val="111827"/>
                </a:solidFill>
                <a:latin typeface="Nunito Sans"/>
              </a:rPr>
              <a:t>ALT_HOLD на 20 м → режим AUTOTUNE</a:t>
            </a:r>
          </a:p>
          <a:p>
            <a:pPr algn="l">
              <a:spcAft>
                <a:spcPts val="360"/>
              </a:spcAft>
            </a:pPr>
            <a:r>
              <a:rPr sz="1800" b="0">
                <a:solidFill>
                  <a:srgbClr val="111827"/>
                </a:solidFill>
                <a:latin typeface="Nunito Sans"/>
              </a:rPr>
              <a:t>Вісь Roll (AUTOTUNE_AXES 1)</a:t>
            </a:r>
          </a:p>
          <a:p>
            <a:pPr algn="l">
              <a:spcAft>
                <a:spcPts val="360"/>
              </a:spcAft>
            </a:pPr>
            <a:r>
              <a:rPr sz="1800" b="0">
                <a:solidFill>
                  <a:srgbClr val="111827"/>
                </a:solidFill>
                <a:latin typeface="Nunito Sans"/>
              </a:rPr>
              <a:t>«AutoTune: Success» → посадка в AUTOTUNE → коефіцієнти збережено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429000"/>
            <a:ext cx="5440680" cy="315468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>
            <a:noFill/>
          </a:ln>
          <a:effectLst>
            <a:outerShdw blurRad="203200" dist="50800" dir="5400000" algn="t" rotWithShape="0">
              <a:srgbClr val="1E293B">
                <a:alpha val="1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46520" y="3749040"/>
            <a:ext cx="146304" cy="146304"/>
          </a:xfrm>
          <a:prstGeom prst="ellipse">
            <a:avLst/>
          </a:prstGeom>
          <a:solidFill>
            <a:srgbClr val="3B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3666744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60"/>
              </a:spcAft>
            </a:pPr>
            <a:r>
              <a:rPr sz="1800" b="1">
                <a:solidFill>
                  <a:srgbClr val="6B7280"/>
                </a:solidFill>
                <a:latin typeface="Nunito Sans"/>
              </a:rPr>
              <a:t>Порівняння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4142232"/>
            <a:ext cx="4892040" cy="2258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60"/>
              </a:spcAft>
            </a:pPr>
            <a:r>
              <a:rPr sz="1800" b="0">
                <a:solidFill>
                  <a:srgbClr val="111827"/>
                </a:solidFill>
                <a:latin typeface="Nunito Sans"/>
              </a:rPr>
              <a:t>Ручний P = 0,135: RMSE 2,5 °/с</a:t>
            </a:r>
          </a:p>
          <a:p>
            <a:pPr algn="l">
              <a:spcAft>
                <a:spcPts val="360"/>
              </a:spcAft>
            </a:pPr>
            <a:r>
              <a:rPr sz="1800" b="0">
                <a:solidFill>
                  <a:srgbClr val="111827"/>
                </a:solidFill>
                <a:latin typeface="Nunito Sans"/>
              </a:rPr>
              <a:t>AutoTune: RMSE 4,7 °/с — команди різкіші (до 71 °/с)</a:t>
            </a:r>
          </a:p>
          <a:p>
            <a:pPr algn="l">
              <a:spcAft>
                <a:spcPts val="360"/>
              </a:spcAft>
            </a:pPr>
            <a:r>
              <a:rPr sz="1800" b="0">
                <a:solidFill>
                  <a:srgbClr val="111827"/>
                </a:solidFill>
                <a:latin typeface="Nunito Sans"/>
              </a:rPr>
              <a:t>Обидва варіанти стабільні; для місії залишив ручний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-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7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548640" y="384048"/>
            <a:ext cx="566928" cy="566928"/>
          </a:xfrm>
          <a:prstGeom prst="ellipse">
            <a:avLst/>
          </a:prstGeom>
          <a:solidFill>
            <a:srgbClr val="3B6F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360"/>
              </a:spcAft>
            </a:pPr>
            <a:r>
              <a:rPr sz="1800" b="1">
                <a:solidFill>
                  <a:srgbClr val="FFFFFF"/>
                </a:solidFill>
                <a:latin typeface="Nunito Sans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429768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9DB4E8"/>
                </a:solidFill>
                <a:latin typeface="Nunito Sans"/>
              </a:rPr>
              <a:t>ВИСНОВКИ І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676656"/>
            <a:ext cx="8778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Nunito Sans"/>
              </a:rPr>
              <a:t>Що зроблено, що далі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3566160" cy="3977639"/>
          </a:xfrm>
          <a:prstGeom prst="roundRect">
            <a:avLst>
              <a:gd name="adj" fmla="val 6410"/>
            </a:avLst>
          </a:prstGeom>
          <a:solidFill>
            <a:srgbClr val="182235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01952"/>
            <a:ext cx="182880" cy="182880"/>
          </a:xfrm>
          <a:prstGeom prst="ellipse">
            <a:avLst/>
          </a:prstGeom>
          <a:solidFill>
            <a:srgbClr val="8FE3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19" y="181051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unito Sans"/>
              </a:rPr>
              <a:t>Що виконано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23160"/>
            <a:ext cx="30175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90"/>
              </a:spcAft>
            </a:pPr>
            <a:r>
              <a:rPr sz="1800" b="0">
                <a:solidFill>
                  <a:srgbClr val="D5DCE8"/>
                </a:solidFill>
                <a:latin typeface="Nunito Sans"/>
              </a:rPr>
              <a:t>Місія з 5 точок у SITL</a:t>
            </a:r>
          </a:p>
          <a:p>
            <a:pPr algn="l">
              <a:spcAft>
                <a:spcPts val="990"/>
              </a:spcAft>
            </a:pPr>
            <a:r>
              <a:rPr sz="1800" b="0">
                <a:solidFill>
                  <a:srgbClr val="D5DCE8"/>
                </a:solidFill>
                <a:latin typeface="Nunito Sans"/>
              </a:rPr>
              <a:t>Geofence і fail-safe RC → RTL</a:t>
            </a:r>
          </a:p>
          <a:p>
            <a:pPr algn="l">
              <a:spcAft>
                <a:spcPts val="990"/>
              </a:spcAft>
            </a:pPr>
            <a:r>
              <a:rPr sz="1800" b="0">
                <a:solidFill>
                  <a:srgbClr val="D5DCE8"/>
                </a:solidFill>
                <a:latin typeface="Nunito Sans"/>
              </a:rPr>
              <a:t>Проблема P: RMSE 87,4 → 2,5 °/с</a:t>
            </a:r>
          </a:p>
          <a:p>
            <a:pPr algn="l">
              <a:spcAft>
                <a:spcPts val="990"/>
              </a:spcAft>
            </a:pPr>
            <a:r>
              <a:rPr sz="1800" b="0">
                <a:solidFill>
                  <a:srgbClr val="D5DCE8"/>
                </a:solidFill>
                <a:latin typeface="Nunito Sans"/>
              </a:rPr>
              <a:t>Фільтр −73 дБ, AutoTune пройдено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1600200"/>
            <a:ext cx="3566160" cy="3977639"/>
          </a:xfrm>
          <a:prstGeom prst="roundRect">
            <a:avLst>
              <a:gd name="adj" fmla="val 6410"/>
            </a:avLst>
          </a:prstGeom>
          <a:solidFill>
            <a:srgbClr val="182235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90288" y="1901952"/>
            <a:ext cx="182880" cy="182880"/>
          </a:xfrm>
          <a:prstGeom prst="ellipse">
            <a:avLst/>
          </a:prstGeom>
          <a:solidFill>
            <a:srgbClr val="FFD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10328" y="181051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unito Sans"/>
              </a:rPr>
              <a:t>Що б покращив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423160"/>
            <a:ext cx="30175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90"/>
              </a:spcAft>
            </a:pPr>
            <a:r>
              <a:rPr sz="1800" b="0">
                <a:solidFill>
                  <a:srgbClr val="D5DCE8"/>
                </a:solidFill>
                <a:latin typeface="Nunito Sans"/>
              </a:rPr>
              <a:t>Зібрати F450 за планом і повторити в польоті</a:t>
            </a:r>
          </a:p>
          <a:p>
            <a:pPr algn="l">
              <a:spcAft>
                <a:spcPts val="990"/>
              </a:spcAft>
            </a:pPr>
            <a:r>
              <a:rPr sz="1800" b="0">
                <a:solidFill>
                  <a:srgbClr val="D5DCE8"/>
                </a:solidFill>
                <a:latin typeface="Nunito Sans"/>
              </a:rPr>
              <a:t>AutoTune на реальному дроні</a:t>
            </a:r>
          </a:p>
          <a:p>
            <a:pPr algn="l">
              <a:spcAft>
                <a:spcPts val="990"/>
              </a:spcAft>
            </a:pPr>
            <a:r>
              <a:rPr sz="1800" b="0">
                <a:solidFill>
                  <a:srgbClr val="D5DCE8"/>
                </a:solidFill>
                <a:latin typeface="Nunito Sans"/>
              </a:rPr>
              <a:t>ESC з телеметрією для notch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91856" y="1600200"/>
            <a:ext cx="3566160" cy="3977639"/>
          </a:xfrm>
          <a:prstGeom prst="roundRect">
            <a:avLst>
              <a:gd name="adj" fmla="val 6410"/>
            </a:avLst>
          </a:prstGeom>
          <a:solidFill>
            <a:srgbClr val="182235"/>
          </a:solidFill>
          <a:ln w="12700">
            <a:solidFill>
              <a:srgbClr val="2A36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11896" y="1901952"/>
            <a:ext cx="182880" cy="182880"/>
          </a:xfrm>
          <a:prstGeom prst="ellipse">
            <a:avLst/>
          </a:prstGeom>
          <a:solidFill>
            <a:srgbClr val="9DB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31936" y="1810512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unito Sans"/>
              </a:rPr>
              <a:t>Навички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2423160"/>
            <a:ext cx="301752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90"/>
              </a:spcAft>
            </a:pPr>
            <a:r>
              <a:rPr sz="1800" b="0">
                <a:solidFill>
                  <a:srgbClr val="D5DCE8"/>
                </a:solidFill>
                <a:latin typeface="Nunito Sans"/>
              </a:rPr>
              <a:t>SITL і Mission Planner</a:t>
            </a:r>
          </a:p>
          <a:p>
            <a:pPr algn="l">
              <a:spcAft>
                <a:spcPts val="990"/>
              </a:spcAft>
            </a:pPr>
            <a:r>
              <a:rPr sz="1800" b="0">
                <a:solidFill>
                  <a:srgbClr val="D5DCE8"/>
                </a:solidFill>
                <a:latin typeface="Nunito Sans"/>
              </a:rPr>
              <a:t>Аналіз логів у ArduPilot Web Tools</a:t>
            </a:r>
          </a:p>
          <a:p>
            <a:pPr algn="l">
              <a:spcAft>
                <a:spcPts val="990"/>
              </a:spcAft>
            </a:pPr>
            <a:r>
              <a:rPr sz="1800" b="0">
                <a:solidFill>
                  <a:srgbClr val="D5DCE8"/>
                </a:solidFill>
                <a:latin typeface="Nunito Sans"/>
              </a:rPr>
              <a:t>Цикл: симптом → гіпотеза → перевірка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Nunito Sans"/>
              </a:rPr>
              <a:t>Дякую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